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orkshop" id="{DB806B52-823E-5914-8EF2-157A1D52D7B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6" autoAdjust="0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2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2833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3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099"/>
                </a:solidFill>
              </a:rPr>
              <a:t>Smart Light Sensor Workshop  |  Made by Sir Anwar Siraj, DS &amp; AI Robotics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rgbClr val="1B1F4B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0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0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017520" cy="457200"/>
          </a:xfrm>
          <a:prstGeom prst="roundRect">
            <a:avLst>
              <a:gd name="adj" fmla="val 24000"/>
            </a:avLst>
          </a:prstGeom>
          <a:solidFill>
            <a:srgbClr val="FFB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4B"/>
                </a:solidFill>
              </a:rPr>
              <a:t>TEACHERS' WORKSHOP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82880" y="150876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B00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SMART LIGHT SENSOR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747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</a:rPr>
              <a:t>Automatic Night Light using LDR, Arduino Uno and LED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846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B8A9"/>
                </a:solidFill>
              </a:rPr>
              <a:t>Made by Sir Anwar Siraj, DS &amp; AI Robotics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3492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For Teachers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595360" y="822960"/>
            <a:ext cx="2560320" cy="2560320"/>
          </a:xfrm>
          <a:prstGeom prst="ellipse">
            <a:avLst/>
          </a:prstGeom>
          <a:solidFill>
            <a:srgbClr val="FFB000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0" y="457200"/>
            <a:ext cx="3291840" cy="3291840"/>
          </a:xfrm>
          <a:prstGeom prst="ellipse">
            <a:avLst/>
          </a:prstGeom>
          <a:solidFill>
            <a:srgbClr val="FFB000">
              <a:alpha val="2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9692640" y="3566160"/>
            <a:ext cx="2011680" cy="2011680"/>
          </a:xfrm>
          <a:prstGeom prst="ellipse">
            <a:avLst/>
          </a:prstGeom>
          <a:solidFill>
            <a:srgbClr val="1B1F4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412480" y="420624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0" y="274320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585216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38560" y="603504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3256300-2C0C-6C35-2999-B1B2FD733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212" y="3291840"/>
            <a:ext cx="4581342" cy="35661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F4B"/>
                </a:solidFill>
              </a:rPr>
              <a:t>What Does This Project Do?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2B2F77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B000"/>
                </a:solidFill>
              </a:rPr>
              <a:t>DARK ROOM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LDR resistance goes UP, the reading goes DOWN, and the LED turns ON automatically.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FB000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92240" y="1554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1F4B"/>
                </a:solidFill>
              </a:rPr>
              <a:t>BRIGHT ROOM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1F4B"/>
                </a:solidFill>
              </a:rPr>
              <a:t>LDR resistance goes DOWN, the reading goes UP, and the LED turns OFF.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1F4B"/>
                </a:solidFill>
              </a:rPr>
              <a:t>How the signal travels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443484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E8436E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48640" y="44348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Light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23160" y="5074920"/>
            <a:ext cx="320040" cy="274320"/>
          </a:xfrm>
          <a:prstGeom prst="rightArrow">
            <a:avLst/>
          </a:prstGeom>
          <a:solidFill>
            <a:srgbClr val="1B1F4B"/>
          </a:solidFill>
          <a:ln/>
        </p:spPr>
      </p:sp>
      <p:sp>
        <p:nvSpPr>
          <p:cNvPr id="13" name="Shape 11"/>
          <p:cNvSpPr/>
          <p:nvPr/>
        </p:nvSpPr>
        <p:spPr>
          <a:xfrm>
            <a:off x="2788920" y="443484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FB000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880360" y="44348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4B"/>
                </a:solidFill>
              </a:rPr>
              <a:t>LDR senses the brightness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5074920"/>
            <a:ext cx="320040" cy="274320"/>
          </a:xfrm>
          <a:prstGeom prst="rightArrow">
            <a:avLst/>
          </a:prstGeom>
          <a:solidFill>
            <a:srgbClr val="1B1F4B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443484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00B8A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212080" y="44348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4B"/>
                </a:solidFill>
              </a:rPr>
              <a:t>Pin A0 reads 0 to 1023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86600" y="5074920"/>
            <a:ext cx="320040" cy="274320"/>
          </a:xfrm>
          <a:prstGeom prst="rightArrow">
            <a:avLst/>
          </a:prstGeom>
          <a:solidFill>
            <a:srgbClr val="1B1F4B"/>
          </a:solidFill>
          <a:ln/>
        </p:spPr>
      </p:sp>
      <p:sp>
        <p:nvSpPr>
          <p:cNvPr id="19" name="Shape 17"/>
          <p:cNvSpPr/>
          <p:nvPr/>
        </p:nvSpPr>
        <p:spPr>
          <a:xfrm>
            <a:off x="7452360" y="443484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7B4D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43800" y="44348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Code compares with threshold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418320" y="5074920"/>
            <a:ext cx="320040" cy="274320"/>
          </a:xfrm>
          <a:prstGeom prst="rightArrow">
            <a:avLst/>
          </a:prstGeom>
          <a:solidFill>
            <a:srgbClr val="1B1F4B"/>
          </a:solidFill>
          <a:ln/>
        </p:spPr>
      </p:sp>
      <p:sp>
        <p:nvSpPr>
          <p:cNvPr id="22" name="Shape 20"/>
          <p:cNvSpPr/>
          <p:nvPr/>
        </p:nvSpPr>
        <p:spPr>
          <a:xfrm>
            <a:off x="9784080" y="443484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1E90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875520" y="44348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Pin 13 switches LED ON / OFF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0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F4B"/>
                </a:solidFill>
              </a:rPr>
              <a:t>Components We Need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E8436E"/>
          </a:solidFill>
          <a:ln w="12700">
            <a:solidFill>
              <a:srgbClr val="E843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</a:rPr>
              <a:t>Arduino Uno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436E"/>
                </a:solidFill>
              </a:rPr>
              <a:t>x 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The brain of the project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19272" y="137160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1600200"/>
            <a:ext cx="548640" cy="548640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47872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4B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</a:rPr>
              <a:t>USB Cable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436E"/>
                </a:solidFill>
              </a:rPr>
              <a:t>x 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Gives power and uploads code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81344" y="137160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9944" y="1600200"/>
            <a:ext cx="548640" cy="54864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9944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4B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</a:rPr>
              <a:t>Breadboard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436E"/>
                </a:solidFill>
              </a:rPr>
              <a:t>x 1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Connect parts, no soldering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43416" y="137160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72016" y="1600200"/>
            <a:ext cx="548640" cy="548640"/>
          </a:xfrm>
          <a:prstGeom prst="ellipse">
            <a:avLst/>
          </a:prstGeom>
          <a:solidFill>
            <a:srgbClr val="7B4DFF"/>
          </a:solidFill>
          <a:ln w="12700">
            <a:solidFill>
              <a:srgbClr val="7B4D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72016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272016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</a:rPr>
              <a:t>LDR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272016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436E"/>
                </a:solidFill>
              </a:rPr>
              <a:t>x 1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72016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Light sensor with 2 legs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" y="4069080"/>
            <a:ext cx="548640" cy="54864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754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</a:rPr>
              <a:t>Resistor 10 kΩ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120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436E"/>
                </a:solidFill>
              </a:rPr>
              <a:t>x 1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440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Bands: brown, black, orange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319272" y="384048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547872" y="4069080"/>
            <a:ext cx="548640" cy="548640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47872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3547872" y="4754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</a:rPr>
              <a:t>LED (any color)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3547872" y="5120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436E"/>
                </a:solidFill>
              </a:rPr>
              <a:t>x 1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3547872" y="5440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Lights up in the dark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181344" y="384048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9944" y="4069080"/>
            <a:ext cx="548640" cy="548640"/>
          </a:xfrm>
          <a:prstGeom prst="ellipse">
            <a:avLst/>
          </a:prstGeom>
          <a:solidFill>
            <a:srgbClr val="E8436E"/>
          </a:solidFill>
          <a:ln w="12700">
            <a:solidFill>
              <a:srgbClr val="E8436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9944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6409944" y="4754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</a:rPr>
              <a:t>Jumper Wires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6409944" y="5120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436E"/>
                </a:solidFill>
              </a:rPr>
              <a:t>x 4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409944" y="5440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Red, yellow, black + spare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043416" y="384048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272016" y="4069080"/>
            <a:ext cx="548640" cy="548640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272016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4B"/>
                </a:solidFill>
              </a:rPr>
              <a:t>8</a:t>
            </a:r>
            <a:endParaRPr lang="en-US" sz="1800" dirty="0"/>
          </a:p>
        </p:txBody>
      </p:sp>
      <p:sp>
        <p:nvSpPr>
          <p:cNvPr id="48" name="Text 46"/>
          <p:cNvSpPr txBox="1"/>
          <p:nvPr/>
        </p:nvSpPr>
        <p:spPr>
          <a:xfrm>
            <a:off x="9272016" y="4754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</a:rPr>
              <a:t>Resistor 220 Ω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9272016" y="5120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436E"/>
                </a:solidFill>
              </a:rPr>
              <a:t>optional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9272016" y="5440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Protects LED: red, red, brown</a:t>
            </a:r>
            <a:endParaRPr lang="en-US" sz="14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0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F4B"/>
                </a:solidFill>
              </a:rPr>
              <a:t>LDR Full Form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05940" y="1600200"/>
            <a:ext cx="914400" cy="914400"/>
          </a:xfrm>
          <a:prstGeom prst="ellipse">
            <a:avLst/>
          </a:prstGeom>
          <a:solidFill>
            <a:srgbClr val="E8436E"/>
          </a:solidFill>
          <a:ln w="12700">
            <a:solidFill>
              <a:srgbClr val="E843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0594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L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36E"/>
                </a:solidFill>
              </a:rPr>
              <a:t>LIGHT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918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6090"/>
                </a:solidFill>
              </a:rPr>
              <a:t>The brightness around us: room light, sunlight, a torch or a lamp falling on the sensor.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74820" y="137160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23560" y="1600200"/>
            <a:ext cx="914400" cy="914400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2356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1F4B"/>
                </a:solidFill>
              </a:rPr>
              <a:t>D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457700" y="2697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07A00"/>
                </a:solidFill>
              </a:rPr>
              <a:t>DEPENDENT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549140" y="32918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6090"/>
                </a:solidFill>
              </a:rPr>
              <a:t>It depends on the light: its behavior changes according to how much light it receives.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92440" y="137160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441180" y="1600200"/>
            <a:ext cx="914400" cy="914400"/>
          </a:xfrm>
          <a:prstGeom prst="ellipse">
            <a:avLst/>
          </a:prstGeom>
          <a:solidFill>
            <a:srgbClr val="7B4DFF"/>
          </a:solidFill>
          <a:ln w="12700">
            <a:solidFill>
              <a:srgbClr val="7B4D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4118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R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697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B4DFF"/>
                </a:solidFill>
              </a:rPr>
              <a:t>RESISTOR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2918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6090"/>
                </a:solidFill>
              </a:rPr>
              <a:t>A part that resists (slows down) the flow of electric current. Measured in ohms (Ω).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98348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00B8A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1F4B"/>
                </a:solidFill>
              </a:rPr>
              <a:t>LDR = a resistor whose resistance changes with light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1F4B"/>
                </a:solidFill>
              </a:rPr>
              <a:t>Dark: resistance HIGH     |     Bright: resistance LOW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0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F4B"/>
                </a:solidFill>
              </a:rPr>
              <a:t>The LDR: Light Dependent Resistor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754880" cy="48463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28800" y="1737360"/>
            <a:ext cx="2011680" cy="2011680"/>
          </a:xfrm>
          <a:prstGeom prst="ellipse">
            <a:avLst/>
          </a:prstGeom>
          <a:solidFill>
            <a:srgbClr val="D8A657"/>
          </a:solidFill>
          <a:ln w="38100">
            <a:solidFill>
              <a:srgbClr val="1B1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1920240"/>
            <a:ext cx="548640" cy="117566"/>
          </a:xfrm>
          <a:prstGeom prst="line">
            <a:avLst/>
          </a:prstGeom>
          <a:noFill/>
          <a:ln w="38100">
            <a:solidFill>
              <a:srgbClr val="1B1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2286000" y="2037806"/>
            <a:ext cx="1097280" cy="235131"/>
          </a:xfrm>
          <a:prstGeom prst="line">
            <a:avLst/>
          </a:prstGeom>
          <a:noFill/>
          <a:ln w="38100">
            <a:solidFill>
              <a:srgbClr val="1B1F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2272937"/>
            <a:ext cx="1097280" cy="235131"/>
          </a:xfrm>
          <a:prstGeom prst="line">
            <a:avLst/>
          </a:prstGeom>
          <a:noFill/>
          <a:ln w="38100">
            <a:solidFill>
              <a:srgbClr val="1B1F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2286000" y="2508069"/>
            <a:ext cx="1097280" cy="235131"/>
          </a:xfrm>
          <a:prstGeom prst="line">
            <a:avLst/>
          </a:prstGeom>
          <a:noFill/>
          <a:ln w="38100">
            <a:solidFill>
              <a:srgbClr val="1B1F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2743200"/>
            <a:ext cx="1097280" cy="235131"/>
          </a:xfrm>
          <a:prstGeom prst="line">
            <a:avLst/>
          </a:prstGeom>
          <a:noFill/>
          <a:ln w="38100">
            <a:solidFill>
              <a:srgbClr val="1B1F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2286000" y="2978331"/>
            <a:ext cx="1097280" cy="235131"/>
          </a:xfrm>
          <a:prstGeom prst="line">
            <a:avLst/>
          </a:prstGeom>
          <a:noFill/>
          <a:ln w="38100">
            <a:solidFill>
              <a:srgbClr val="1B1F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3213463"/>
            <a:ext cx="1097280" cy="235131"/>
          </a:xfrm>
          <a:prstGeom prst="line">
            <a:avLst/>
          </a:prstGeom>
          <a:noFill/>
          <a:ln w="38100">
            <a:solidFill>
              <a:srgbClr val="1B1F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2834640" y="3448594"/>
            <a:ext cx="548640" cy="117566"/>
          </a:xfrm>
          <a:prstGeom prst="line">
            <a:avLst/>
          </a:prstGeom>
          <a:noFill/>
          <a:ln w="38100">
            <a:solidFill>
              <a:srgbClr val="1B1F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749040"/>
            <a:ext cx="0" cy="1463040"/>
          </a:xfrm>
          <a:prstGeom prst="line">
            <a:avLst/>
          </a:prstGeom>
          <a:noFill/>
          <a:ln w="50800">
            <a:solidFill>
              <a:srgbClr val="8A8F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3749040"/>
            <a:ext cx="0" cy="1463040"/>
          </a:xfrm>
          <a:prstGeom prst="line">
            <a:avLst/>
          </a:prstGeom>
          <a:noFill/>
          <a:ln w="50800">
            <a:solidFill>
              <a:srgbClr val="8A8F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28800" y="5303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36E"/>
                </a:solidFill>
              </a:rPr>
              <a:t>LEG 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5303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90FF"/>
                </a:solidFill>
              </a:rPr>
              <a:t>LEG 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760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090"/>
                </a:solidFill>
              </a:rPr>
              <a:t>Curvy track = light-sensitive material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77840" y="1371600"/>
            <a:ext cx="6126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06440" y="1645920"/>
            <a:ext cx="548640" cy="548640"/>
          </a:xfrm>
          <a:prstGeom prst="ellipse">
            <a:avLst/>
          </a:prstGeom>
          <a:solidFill>
            <a:srgbClr val="E8436E"/>
          </a:solidFill>
          <a:ln w="12700">
            <a:solidFill>
              <a:srgbClr val="E843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064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</a:rPr>
              <a:t>2 legs, no polarity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190195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Either leg can go to 5V or to A0. There is no wrong way round.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577840" y="2606040"/>
            <a:ext cx="6126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06440" y="2880360"/>
            <a:ext cx="548640" cy="548640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064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4B"/>
                </a:solidFill>
              </a:rPr>
              <a:t>2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2743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</a:rPr>
              <a:t>Bright light = low resistance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31363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Resistance drops to roughly 1 kΩ.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577840" y="3840480"/>
            <a:ext cx="6126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806440" y="4114800"/>
            <a:ext cx="548640" cy="54864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064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4B"/>
                </a:solidFill>
              </a:rPr>
              <a:t>3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</a:rPr>
              <a:t>Darkness = high resistance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43708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Resistance rises above 100 kΩ.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577840" y="5074920"/>
            <a:ext cx="6126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806440" y="5349240"/>
            <a:ext cx="548640" cy="548640"/>
          </a:xfrm>
          <a:prstGeom prst="ellipse">
            <a:avLst/>
          </a:prstGeom>
          <a:solidFill>
            <a:srgbClr val="7B4DFF"/>
          </a:solidFill>
          <a:ln w="12700">
            <a:solidFill>
              <a:srgbClr val="7B4D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06440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0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</a:rPr>
              <a:t>Our wiring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0" y="56052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Leg 1 to 5V (positive). Leg 2 to A0 and to the 10 kΩ resistor.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0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F4B"/>
                </a:solidFill>
              </a:rPr>
              <a:t>Meet the Other Components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11880" cy="48463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8436E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" y="2240280"/>
            <a:ext cx="2194560" cy="0"/>
          </a:xfrm>
          <a:prstGeom prst="line">
            <a:avLst/>
          </a:prstGeom>
          <a:noFill/>
          <a:ln w="50800">
            <a:solidFill>
              <a:srgbClr val="8A8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1620" y="1965960"/>
            <a:ext cx="1463040" cy="548640"/>
          </a:xfrm>
          <a:prstGeom prst="roundRect">
            <a:avLst>
              <a:gd name="adj" fmla="val 20000"/>
            </a:avLst>
          </a:prstGeom>
          <a:solidFill>
            <a:srgbClr val="E8C9A0"/>
          </a:solidFill>
          <a:ln w="19050">
            <a:solidFill>
              <a:srgbClr val="1B1F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97380" y="1965960"/>
            <a:ext cx="91440" cy="54864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8" name="Shape 6"/>
          <p:cNvSpPr/>
          <p:nvPr/>
        </p:nvSpPr>
        <p:spPr>
          <a:xfrm>
            <a:off x="2125980" y="1965960"/>
            <a:ext cx="9144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Shape 7"/>
          <p:cNvSpPr/>
          <p:nvPr/>
        </p:nvSpPr>
        <p:spPr>
          <a:xfrm>
            <a:off x="2354580" y="1965960"/>
            <a:ext cx="91440" cy="54864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8436E"/>
                </a:solidFill>
              </a:rPr>
              <a:t>Resistor 10 kΩ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4B"/>
                </a:solidFill>
              </a:rPr>
              <a:t>No polarity: either way works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4B"/>
                </a:solidFill>
              </a:rPr>
              <a:t>Works with the LDR as a voltage divider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4B"/>
                </a:solidFill>
              </a:rPr>
              <a:t>One leg joins the LDR junction, the other leg goes to GND (negative)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74820" y="1371600"/>
            <a:ext cx="3611880" cy="48463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57700" y="155448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2BB673"/>
          </a:solidFill>
          <a:ln/>
        </p:spPr>
      </p:sp>
      <p:sp>
        <p:nvSpPr>
          <p:cNvPr id="14" name="Shape 12"/>
          <p:cNvSpPr/>
          <p:nvPr/>
        </p:nvSpPr>
        <p:spPr>
          <a:xfrm>
            <a:off x="5897880" y="2743200"/>
            <a:ext cx="0" cy="182880"/>
          </a:xfrm>
          <a:prstGeom prst="line">
            <a:avLst/>
          </a:prstGeom>
          <a:noFill/>
          <a:ln w="38100">
            <a:solidFill>
              <a:srgbClr val="8A8F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743200"/>
            <a:ext cx="0" cy="182880"/>
          </a:xfrm>
          <a:prstGeom prst="line">
            <a:avLst/>
          </a:prstGeom>
          <a:noFill/>
          <a:ln w="38100">
            <a:solidFill>
              <a:srgbClr val="8A8F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3560" y="1691640"/>
            <a:ext cx="914400" cy="1005840"/>
          </a:xfrm>
          <a:prstGeom prst="ellipse">
            <a:avLst/>
          </a:prstGeom>
          <a:solidFill>
            <a:srgbClr val="3DDC84"/>
          </a:solidFill>
          <a:ln w="25400">
            <a:solidFill>
              <a:srgbClr val="2BB67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0342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BB673"/>
                </a:solidFill>
              </a:rPr>
              <a:t>LED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503420" y="361188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4B"/>
                </a:solidFill>
              </a:rPr>
              <a:t>Has polarity: long leg is positive (+)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4B"/>
                </a:solidFill>
              </a:rPr>
              <a:t>Long leg to pin 13, short leg to GND (−)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4B"/>
                </a:solidFill>
              </a:rPr>
              <a:t>Wrong way round = it will not light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1371600"/>
            <a:ext cx="3611880" cy="48463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75320" y="155448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1E90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892540" y="1783080"/>
            <a:ext cx="2011680" cy="914400"/>
          </a:xfrm>
          <a:prstGeom prst="rect">
            <a:avLst/>
          </a:prstGeom>
          <a:solidFill>
            <a:srgbClr val="0B6FA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892540" y="1783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UNO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90FF"/>
                </a:solidFill>
              </a:rPr>
              <a:t>Arduino Uno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61188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4B"/>
                </a:solidFill>
              </a:rPr>
              <a:t>5V pin = positive power for the LDR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4B"/>
                </a:solidFill>
              </a:rPr>
              <a:t>GND pin = negative (0 V) return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4B"/>
                </a:solidFill>
              </a:rPr>
              <a:t>A0 reads 0 to 1023, pin 13 drives the LED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0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F4B"/>
                </a:solidFill>
              </a:rPr>
              <a:t>How It Works: Voltage Divider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949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1F4B"/>
                </a:solidFill>
              </a:rPr>
              <a:t>The LDR and the 10 kΩ resistor share the 5 V. Arduino measures the voltage at the middle point (A0).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EEF1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4DFF"/>
                </a:solidFill>
              </a:rPr>
              <a:t>V(A0) = 5 V × 10 kΩ ÷ (R_LDR + 10 kΩ)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43484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00B8A9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" y="45262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1F4B"/>
                </a:solidFill>
              </a:rPr>
              <a:t>0 – 1023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5440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B1F4B"/>
                </a:solidFill>
              </a:rPr>
              <a:t>analogRead() range (0 V to 5 V)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5577840" cy="2331720"/>
          </a:xfrm>
          <a:prstGeom prst="roundRect">
            <a:avLst>
              <a:gd name="adj" fmla="val 4706"/>
            </a:avLst>
          </a:prstGeom>
          <a:solidFill>
            <a:srgbClr val="FFB000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1F4B"/>
                </a:solidFill>
              </a:rPr>
              <a:t>BRIGHT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031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1F4B"/>
                </a:solidFill>
              </a:rPr>
              <a:t>LDR resistance LOW → A0 voltage HIGH → reading is high (for example 600) → LED OFF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26480" y="3886200"/>
            <a:ext cx="5577840" cy="2331720"/>
          </a:xfrm>
          <a:prstGeom prst="roundRect">
            <a:avLst>
              <a:gd name="adj" fmla="val 4706"/>
            </a:avLst>
          </a:prstGeom>
          <a:solidFill>
            <a:srgbClr val="2B2F77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0" y="4023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B000"/>
                </a:solidFill>
              </a:rPr>
              <a:t>DARK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6177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LDR resistance HIGH → A0 voltage LOW → reading is low (70 or less) → LED 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0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F4B"/>
                </a:solidFill>
              </a:rPr>
              <a:t>Why Does the LED Turn ON in the Dark?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846320" cy="4846320"/>
          </a:xfrm>
          <a:prstGeom prst="roundRect">
            <a:avLst>
              <a:gd name="adj" fmla="val 2264"/>
            </a:avLst>
          </a:prstGeom>
          <a:solidFill>
            <a:srgbClr val="2B2F77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ONE WORD: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B000"/>
                </a:solidFill>
              </a:rPr>
              <a:t>VOLTAGE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5661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Resistance goes UP, so the voltage at A0 goes DOWN.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4805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CEF5"/>
                </a:solidFill>
              </a:rPr>
              <a:t>The LDR is on the 5V side. When it resists more, it uses more of the 5V, so less voltage is left at A0.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77840" y="1371600"/>
            <a:ext cx="6126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06440" y="1645920"/>
            <a:ext cx="548640" cy="548640"/>
          </a:xfrm>
          <a:prstGeom prst="ellipse">
            <a:avLst/>
          </a:prstGeom>
          <a:solidFill>
            <a:srgbClr val="E8436E"/>
          </a:solidFill>
          <a:ln w="12700">
            <a:solidFill>
              <a:srgbClr val="E843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3716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4B"/>
                </a:solidFill>
              </a:rPr>
              <a:t>Dark: LDR resistance goes UP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577840" y="2606040"/>
            <a:ext cx="6126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2880360"/>
            <a:ext cx="548640" cy="548640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064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4B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6060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4B"/>
                </a:solidFill>
              </a:rPr>
              <a:t>Voltage at A0 goes DOWN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577840" y="3840480"/>
            <a:ext cx="6126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6440" y="4114800"/>
            <a:ext cx="548640" cy="54864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4B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8404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4B"/>
                </a:solidFill>
              </a:rPr>
              <a:t>Reading becomes 70 or less (threshold)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577840" y="5074920"/>
            <a:ext cx="6126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06440" y="5349240"/>
            <a:ext cx="548640" cy="548640"/>
          </a:xfrm>
          <a:prstGeom prst="ellipse">
            <a:avLst/>
          </a:prstGeom>
          <a:solidFill>
            <a:srgbClr val="7B4DFF"/>
          </a:solidFill>
          <a:ln w="12700">
            <a:solidFill>
              <a:srgbClr val="7B4D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06440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0749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4B"/>
                </a:solidFill>
              </a:rPr>
              <a:t>if() is true: pin 13 HIGH, LED 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0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F4B"/>
                </a:solidFill>
              </a:rPr>
              <a:t>Circuit Diagram (Schematic)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786384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783080" y="1417320"/>
            <a:ext cx="1188720" cy="365760"/>
          </a:xfrm>
          <a:prstGeom prst="roundRect">
            <a:avLst>
              <a:gd name="adj" fmla="val 30000"/>
            </a:avLst>
          </a:prstGeom>
          <a:solidFill>
            <a:srgbClr val="E843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783080" y="1417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5V (+)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77440" y="1783080"/>
            <a:ext cx="0" cy="685800"/>
          </a:xfrm>
          <a:prstGeom prst="line">
            <a:avLst/>
          </a:prstGeom>
          <a:noFill/>
          <a:ln w="50800">
            <a:solidFill>
              <a:srgbClr val="E843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2377440"/>
            <a:ext cx="914400" cy="109728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1B1F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2468880"/>
            <a:ext cx="155448" cy="76200"/>
          </a:xfrm>
          <a:prstGeom prst="line">
            <a:avLst/>
          </a:prstGeom>
          <a:noFill/>
          <a:ln w="31750">
            <a:solidFill>
              <a:srgbClr val="1B1F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2221992" y="2545080"/>
            <a:ext cx="310896" cy="152400"/>
          </a:xfrm>
          <a:prstGeom prst="line">
            <a:avLst/>
          </a:prstGeom>
          <a:noFill/>
          <a:ln w="31750">
            <a:solidFill>
              <a:srgbClr val="1B1F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1992" y="2697480"/>
            <a:ext cx="310896" cy="152400"/>
          </a:xfrm>
          <a:prstGeom prst="line">
            <a:avLst/>
          </a:prstGeom>
          <a:noFill/>
          <a:ln w="31750">
            <a:solidFill>
              <a:srgbClr val="1B1F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2221992" y="2849880"/>
            <a:ext cx="310896" cy="152400"/>
          </a:xfrm>
          <a:prstGeom prst="line">
            <a:avLst/>
          </a:prstGeom>
          <a:noFill/>
          <a:ln w="31750">
            <a:solidFill>
              <a:srgbClr val="1B1F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1992" y="3002280"/>
            <a:ext cx="310896" cy="152400"/>
          </a:xfrm>
          <a:prstGeom prst="line">
            <a:avLst/>
          </a:prstGeom>
          <a:noFill/>
          <a:ln w="31750">
            <a:solidFill>
              <a:srgbClr val="1B1F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2221992" y="3154680"/>
            <a:ext cx="310896" cy="152400"/>
          </a:xfrm>
          <a:prstGeom prst="line">
            <a:avLst/>
          </a:prstGeom>
          <a:noFill/>
          <a:ln w="31750">
            <a:solidFill>
              <a:srgbClr val="1B1F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1992" y="3307080"/>
            <a:ext cx="155448" cy="76200"/>
          </a:xfrm>
          <a:prstGeom prst="line">
            <a:avLst/>
          </a:prstGeom>
          <a:noFill/>
          <a:ln w="31750">
            <a:solidFill>
              <a:srgbClr val="1B1F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3383280"/>
            <a:ext cx="0" cy="548640"/>
          </a:xfrm>
          <a:prstGeom prst="line">
            <a:avLst/>
          </a:prstGeom>
          <a:noFill/>
          <a:ln w="50800">
            <a:solidFill>
              <a:srgbClr val="1B1F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1965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090"/>
                </a:solidFill>
              </a:rPr>
              <a:t>Leg 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090"/>
                </a:solidFill>
              </a:rPr>
              <a:t>Leg 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2743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</a:rPr>
              <a:t>LDR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304288" y="3858768"/>
            <a:ext cx="146304" cy="146304"/>
          </a:xfrm>
          <a:prstGeom prst="ellipse">
            <a:avLst/>
          </a:prstGeom>
          <a:solidFill>
            <a:srgbClr val="1B1F4B"/>
          </a:solidFill>
          <a:ln w="12700">
            <a:solidFill>
              <a:srgbClr val="1B1F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3931920"/>
            <a:ext cx="2377440" cy="0"/>
          </a:xfrm>
          <a:prstGeom prst="line">
            <a:avLst/>
          </a:prstGeom>
          <a:noFill/>
          <a:ln w="508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703320"/>
            <a:ext cx="1554480" cy="457200"/>
          </a:xfrm>
          <a:prstGeom prst="roundRect">
            <a:avLst>
              <a:gd name="adj" fmla="val 24000"/>
            </a:avLst>
          </a:prstGeom>
          <a:solidFill>
            <a:srgbClr val="FFB0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54880" y="3703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4B"/>
                </a:solidFill>
              </a:rPr>
              <a:t>A0 analog pin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377440" y="3931920"/>
            <a:ext cx="0" cy="274320"/>
          </a:xfrm>
          <a:prstGeom prst="line">
            <a:avLst/>
          </a:prstGeom>
          <a:noFill/>
          <a:ln w="50800">
            <a:solidFill>
              <a:srgbClr val="1B1F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4206240"/>
            <a:ext cx="155448" cy="76200"/>
          </a:xfrm>
          <a:prstGeom prst="line">
            <a:avLst/>
          </a:prstGeom>
          <a:noFill/>
          <a:ln w="31750">
            <a:solidFill>
              <a:srgbClr val="1B1F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2221992" y="4282440"/>
            <a:ext cx="310896" cy="152400"/>
          </a:xfrm>
          <a:prstGeom prst="line">
            <a:avLst/>
          </a:prstGeom>
          <a:noFill/>
          <a:ln w="31750">
            <a:solidFill>
              <a:srgbClr val="1B1F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1992" y="4434840"/>
            <a:ext cx="310896" cy="152400"/>
          </a:xfrm>
          <a:prstGeom prst="line">
            <a:avLst/>
          </a:prstGeom>
          <a:noFill/>
          <a:ln w="31750">
            <a:solidFill>
              <a:srgbClr val="1B1F4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2221992" y="4587240"/>
            <a:ext cx="310896" cy="152400"/>
          </a:xfrm>
          <a:prstGeom prst="line">
            <a:avLst/>
          </a:prstGeom>
          <a:noFill/>
          <a:ln w="31750">
            <a:solidFill>
              <a:srgbClr val="1B1F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1992" y="4739640"/>
            <a:ext cx="310896" cy="152400"/>
          </a:xfrm>
          <a:prstGeom prst="line">
            <a:avLst/>
          </a:prstGeom>
          <a:noFill/>
          <a:ln w="31750">
            <a:solidFill>
              <a:srgbClr val="1B1F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2221992" y="4892040"/>
            <a:ext cx="310896" cy="152400"/>
          </a:xfrm>
          <a:prstGeom prst="line">
            <a:avLst/>
          </a:prstGeom>
          <a:noFill/>
          <a:ln w="31750">
            <a:solidFill>
              <a:srgbClr val="1B1F4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21992" y="5044440"/>
            <a:ext cx="155448" cy="76200"/>
          </a:xfrm>
          <a:prstGeom prst="line">
            <a:avLst/>
          </a:prstGeom>
          <a:noFill/>
          <a:ln w="31750">
            <a:solidFill>
              <a:srgbClr val="1B1F4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77440" y="5120640"/>
            <a:ext cx="0" cy="457200"/>
          </a:xfrm>
          <a:prstGeom prst="line">
            <a:avLst/>
          </a:prstGeom>
          <a:noFill/>
          <a:ln w="50800">
            <a:solidFill>
              <a:srgbClr val="1B1F4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743200" y="4526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</a:rPr>
              <a:t>10 kΩ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011680" y="5577840"/>
            <a:ext cx="731520" cy="0"/>
          </a:xfrm>
          <a:prstGeom prst="line">
            <a:avLst/>
          </a:prstGeom>
          <a:noFill/>
          <a:ln w="38100">
            <a:solidFill>
              <a:srgbClr val="1B1F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48840" y="5669280"/>
            <a:ext cx="457200" cy="0"/>
          </a:xfrm>
          <a:prstGeom prst="line">
            <a:avLst/>
          </a:prstGeom>
          <a:noFill/>
          <a:ln w="38100">
            <a:solidFill>
              <a:srgbClr val="1B1F4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40280" y="5760720"/>
            <a:ext cx="274320" cy="0"/>
          </a:xfrm>
          <a:prstGeom prst="line">
            <a:avLst/>
          </a:prstGeom>
          <a:noFill/>
          <a:ln w="38100">
            <a:solidFill>
              <a:srgbClr val="1B1F4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880360" y="5486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4B"/>
                </a:solidFill>
              </a:rPr>
              <a:t>GND (−)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629400" y="1417320"/>
            <a:ext cx="1188720" cy="365760"/>
          </a:xfrm>
          <a:prstGeom prst="roundRect">
            <a:avLst>
              <a:gd name="adj" fmla="val 30000"/>
            </a:avLst>
          </a:prstGeom>
          <a:solidFill>
            <a:srgbClr val="00B8A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629400" y="1417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4B"/>
                </a:solidFill>
              </a:rPr>
              <a:t>Pin 13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223760" y="1783080"/>
            <a:ext cx="0" cy="960120"/>
          </a:xfrm>
          <a:prstGeom prst="line">
            <a:avLst/>
          </a:prstGeom>
          <a:noFill/>
          <a:ln w="50800">
            <a:solidFill>
              <a:srgbClr val="2BB67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6858000" y="2743200"/>
            <a:ext cx="731520" cy="640080"/>
          </a:xfrm>
          <a:prstGeom prst="triangle">
            <a:avLst/>
          </a:prstGeom>
          <a:solidFill>
            <a:srgbClr val="3DDC84"/>
          </a:solidFill>
          <a:ln w="25400">
            <a:solidFill>
              <a:srgbClr val="1B1F4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12280" y="3429000"/>
            <a:ext cx="822960" cy="0"/>
          </a:xfrm>
          <a:prstGeom prst="line">
            <a:avLst/>
          </a:prstGeom>
          <a:noFill/>
          <a:ln w="38100">
            <a:solidFill>
              <a:srgbClr val="1B1F4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23760" y="3429000"/>
            <a:ext cx="0" cy="2148840"/>
          </a:xfrm>
          <a:prstGeom prst="line">
            <a:avLst/>
          </a:prstGeom>
          <a:noFill/>
          <a:ln w="50800">
            <a:solidFill>
              <a:srgbClr val="1B1F4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26680" y="2880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1F4B"/>
                </a:solidFill>
              </a:rPr>
              <a:t>LED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6309360" y="2377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90"/>
                </a:solidFill>
              </a:rPr>
              <a:t>long leg (+)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309360" y="3383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90"/>
                </a:solidFill>
              </a:rPr>
              <a:t>short leg (−)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0" y="5577840"/>
            <a:ext cx="731520" cy="0"/>
          </a:xfrm>
          <a:prstGeom prst="line">
            <a:avLst/>
          </a:prstGeom>
          <a:noFill/>
          <a:ln w="38100">
            <a:solidFill>
              <a:srgbClr val="1B1F4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95160" y="5669280"/>
            <a:ext cx="457200" cy="0"/>
          </a:xfrm>
          <a:prstGeom prst="line">
            <a:avLst/>
          </a:prstGeom>
          <a:noFill/>
          <a:ln w="38100">
            <a:solidFill>
              <a:srgbClr val="1B1F4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86600" y="5760720"/>
            <a:ext cx="274320" cy="0"/>
          </a:xfrm>
          <a:prstGeom prst="line">
            <a:avLst/>
          </a:prstGeom>
          <a:noFill/>
          <a:ln w="38100">
            <a:solidFill>
              <a:srgbClr val="1B1F4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206240" y="4572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090"/>
                </a:solidFill>
              </a:rPr>
              <a:t>Tip: add a 220 Ω resistor in series with the LED to protect it.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595360" y="1280160"/>
            <a:ext cx="313639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778240" y="1645920"/>
            <a:ext cx="365760" cy="365760"/>
          </a:xfrm>
          <a:prstGeom prst="ellipse">
            <a:avLst/>
          </a:prstGeom>
          <a:solidFill>
            <a:srgbClr val="E8436E"/>
          </a:solidFill>
          <a:ln w="12700">
            <a:solidFill>
              <a:srgbClr val="E8436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28116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4B"/>
                </a:solidFill>
              </a:rPr>
              <a:t>Red = 5V (+)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928116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090"/>
                </a:solidFill>
              </a:rPr>
              <a:t>LDR Leg 1 connects here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595360" y="2468880"/>
            <a:ext cx="313639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778240" y="2834640"/>
            <a:ext cx="365760" cy="365760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28116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4B"/>
                </a:solidFill>
              </a:rPr>
              <a:t>Yellow = signal</a:t>
            </a:r>
            <a:endParaRPr lang="en-US" sz="1500" dirty="0"/>
          </a:p>
        </p:txBody>
      </p:sp>
      <p:sp>
        <p:nvSpPr>
          <p:cNvPr id="57" name="Text 55"/>
          <p:cNvSpPr txBox="1"/>
          <p:nvPr/>
        </p:nvSpPr>
        <p:spPr>
          <a:xfrm>
            <a:off x="928116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090"/>
                </a:solidFill>
              </a:rPr>
              <a:t>LDR Leg 2 + resistor meet at A0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595360" y="3657600"/>
            <a:ext cx="313639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778240" y="4023360"/>
            <a:ext cx="365760" cy="365760"/>
          </a:xfrm>
          <a:prstGeom prst="ellipse">
            <a:avLst/>
          </a:prstGeom>
          <a:solidFill>
            <a:srgbClr val="1B1F4B"/>
          </a:solidFill>
          <a:ln w="12700">
            <a:solidFill>
              <a:srgbClr val="1B1F4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28116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4B"/>
                </a:solidFill>
              </a:rPr>
              <a:t>Black = GND (−)</a:t>
            </a:r>
            <a:endParaRPr lang="en-US" sz="1500" dirty="0"/>
          </a:p>
        </p:txBody>
      </p:sp>
      <p:sp>
        <p:nvSpPr>
          <p:cNvPr id="61" name="Text 59"/>
          <p:cNvSpPr txBox="1"/>
          <p:nvPr/>
        </p:nvSpPr>
        <p:spPr>
          <a:xfrm>
            <a:off x="928116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090"/>
                </a:solidFill>
              </a:rPr>
              <a:t>Resistor free leg goes here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595360" y="4846320"/>
            <a:ext cx="313639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8778240" y="5212080"/>
            <a:ext cx="365760" cy="365760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281160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4B"/>
                </a:solidFill>
              </a:rPr>
              <a:t>Green = output</a:t>
            </a:r>
            <a:endParaRPr lang="en-US" sz="1500" dirty="0"/>
          </a:p>
        </p:txBody>
      </p:sp>
      <p:sp>
        <p:nvSpPr>
          <p:cNvPr id="65" name="Text 63"/>
          <p:cNvSpPr txBox="1"/>
          <p:nvPr/>
        </p:nvSpPr>
        <p:spPr>
          <a:xfrm>
            <a:off x="9281160" y="5394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090"/>
                </a:solidFill>
              </a:rPr>
              <a:t>Pin 13 to LED long leg</a:t>
            </a:r>
            <a:endParaRPr lang="en-US" sz="1200" dirty="0"/>
          </a:p>
        </p:txBody>
      </p:sp>
      <p:sp>
        <p:nvSpPr>
          <p:cNvPr id="6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0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F4B"/>
                </a:solidFill>
              </a:rPr>
              <a:t>Physical Circuit: Arduino + LDR + LED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04672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566160" y="1417320"/>
            <a:ext cx="4754880" cy="2880360"/>
          </a:xfrm>
          <a:prstGeom prst="roundRect">
            <a:avLst>
              <a:gd name="adj" fmla="val 3810"/>
            </a:avLst>
          </a:prstGeom>
          <a:solidFill>
            <a:srgbClr val="EEF1F8"/>
          </a:solidFill>
          <a:ln w="19050">
            <a:solidFill>
              <a:srgbClr val="B8BE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60520" y="1874520"/>
            <a:ext cx="457200" cy="2286000"/>
          </a:xfrm>
          <a:prstGeom prst="roundRect">
            <a:avLst>
              <a:gd name="adj" fmla="val 24000"/>
            </a:avLst>
          </a:prstGeom>
          <a:solidFill>
            <a:srgbClr val="FFD6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0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4B"/>
                </a:solidFill>
              </a:rPr>
              <a:t>5V (+)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65676" y="1965960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8" name="Shape 6"/>
          <p:cNvSpPr/>
          <p:nvPr/>
        </p:nvSpPr>
        <p:spPr>
          <a:xfrm>
            <a:off x="4448556" y="1965960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9" name="Shape 7"/>
          <p:cNvSpPr/>
          <p:nvPr/>
        </p:nvSpPr>
        <p:spPr>
          <a:xfrm>
            <a:off x="4265676" y="2212848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10" name="Shape 8"/>
          <p:cNvSpPr/>
          <p:nvPr/>
        </p:nvSpPr>
        <p:spPr>
          <a:xfrm>
            <a:off x="4448556" y="2212848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11" name="Shape 9"/>
          <p:cNvSpPr/>
          <p:nvPr/>
        </p:nvSpPr>
        <p:spPr>
          <a:xfrm>
            <a:off x="4265676" y="2459736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12" name="Shape 10"/>
          <p:cNvSpPr/>
          <p:nvPr/>
        </p:nvSpPr>
        <p:spPr>
          <a:xfrm>
            <a:off x="4448556" y="2459736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13" name="Shape 11"/>
          <p:cNvSpPr/>
          <p:nvPr/>
        </p:nvSpPr>
        <p:spPr>
          <a:xfrm>
            <a:off x="4265676" y="2706624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14" name="Shape 12"/>
          <p:cNvSpPr/>
          <p:nvPr/>
        </p:nvSpPr>
        <p:spPr>
          <a:xfrm>
            <a:off x="4448556" y="2706624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15" name="Shape 13"/>
          <p:cNvSpPr/>
          <p:nvPr/>
        </p:nvSpPr>
        <p:spPr>
          <a:xfrm>
            <a:off x="4265676" y="2953512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16" name="Shape 14"/>
          <p:cNvSpPr/>
          <p:nvPr/>
        </p:nvSpPr>
        <p:spPr>
          <a:xfrm>
            <a:off x="4448556" y="2953512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17" name="Shape 15"/>
          <p:cNvSpPr/>
          <p:nvPr/>
        </p:nvSpPr>
        <p:spPr>
          <a:xfrm>
            <a:off x="4265676" y="3200400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18" name="Shape 16"/>
          <p:cNvSpPr/>
          <p:nvPr/>
        </p:nvSpPr>
        <p:spPr>
          <a:xfrm>
            <a:off x="4448556" y="3200400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19" name="Shape 17"/>
          <p:cNvSpPr/>
          <p:nvPr/>
        </p:nvSpPr>
        <p:spPr>
          <a:xfrm>
            <a:off x="4265676" y="3447288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20" name="Shape 18"/>
          <p:cNvSpPr/>
          <p:nvPr/>
        </p:nvSpPr>
        <p:spPr>
          <a:xfrm>
            <a:off x="4448556" y="3447288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21" name="Shape 19"/>
          <p:cNvSpPr/>
          <p:nvPr/>
        </p:nvSpPr>
        <p:spPr>
          <a:xfrm>
            <a:off x="4265676" y="3694176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22" name="Shape 20"/>
          <p:cNvSpPr/>
          <p:nvPr/>
        </p:nvSpPr>
        <p:spPr>
          <a:xfrm>
            <a:off x="4448556" y="3694176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23" name="Shape 21"/>
          <p:cNvSpPr/>
          <p:nvPr/>
        </p:nvSpPr>
        <p:spPr>
          <a:xfrm>
            <a:off x="4265676" y="3941064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24" name="Shape 22"/>
          <p:cNvSpPr/>
          <p:nvPr/>
        </p:nvSpPr>
        <p:spPr>
          <a:xfrm>
            <a:off x="4448556" y="3941064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25" name="Shape 23"/>
          <p:cNvSpPr/>
          <p:nvPr/>
        </p:nvSpPr>
        <p:spPr>
          <a:xfrm>
            <a:off x="5623560" y="1874520"/>
            <a:ext cx="457200" cy="2286000"/>
          </a:xfrm>
          <a:prstGeom prst="roundRect">
            <a:avLst>
              <a:gd name="adj" fmla="val 24000"/>
            </a:avLst>
          </a:prstGeom>
          <a:solidFill>
            <a:srgbClr val="FFF1C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120640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4B"/>
                </a:solidFill>
              </a:rPr>
              <a:t>A0 junction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28716" y="1965960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28" name="Shape 26"/>
          <p:cNvSpPr/>
          <p:nvPr/>
        </p:nvSpPr>
        <p:spPr>
          <a:xfrm>
            <a:off x="5911596" y="1965960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29" name="Shape 27"/>
          <p:cNvSpPr/>
          <p:nvPr/>
        </p:nvSpPr>
        <p:spPr>
          <a:xfrm>
            <a:off x="5728716" y="2212848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30" name="Shape 28"/>
          <p:cNvSpPr/>
          <p:nvPr/>
        </p:nvSpPr>
        <p:spPr>
          <a:xfrm>
            <a:off x="5911596" y="2212848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31" name="Shape 29"/>
          <p:cNvSpPr/>
          <p:nvPr/>
        </p:nvSpPr>
        <p:spPr>
          <a:xfrm>
            <a:off x="5728716" y="2459736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32" name="Shape 30"/>
          <p:cNvSpPr/>
          <p:nvPr/>
        </p:nvSpPr>
        <p:spPr>
          <a:xfrm>
            <a:off x="5911596" y="2459736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33" name="Shape 31"/>
          <p:cNvSpPr/>
          <p:nvPr/>
        </p:nvSpPr>
        <p:spPr>
          <a:xfrm>
            <a:off x="5728716" y="2706624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34" name="Shape 32"/>
          <p:cNvSpPr/>
          <p:nvPr/>
        </p:nvSpPr>
        <p:spPr>
          <a:xfrm>
            <a:off x="5911596" y="2706624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35" name="Shape 33"/>
          <p:cNvSpPr/>
          <p:nvPr/>
        </p:nvSpPr>
        <p:spPr>
          <a:xfrm>
            <a:off x="5728716" y="2953512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36" name="Shape 34"/>
          <p:cNvSpPr/>
          <p:nvPr/>
        </p:nvSpPr>
        <p:spPr>
          <a:xfrm>
            <a:off x="5911596" y="2953512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37" name="Shape 35"/>
          <p:cNvSpPr/>
          <p:nvPr/>
        </p:nvSpPr>
        <p:spPr>
          <a:xfrm>
            <a:off x="5728716" y="3200400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38" name="Shape 36"/>
          <p:cNvSpPr/>
          <p:nvPr/>
        </p:nvSpPr>
        <p:spPr>
          <a:xfrm>
            <a:off x="5911596" y="3200400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39" name="Shape 37"/>
          <p:cNvSpPr/>
          <p:nvPr/>
        </p:nvSpPr>
        <p:spPr>
          <a:xfrm>
            <a:off x="5728716" y="3447288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40" name="Shape 38"/>
          <p:cNvSpPr/>
          <p:nvPr/>
        </p:nvSpPr>
        <p:spPr>
          <a:xfrm>
            <a:off x="5911596" y="3447288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41" name="Shape 39"/>
          <p:cNvSpPr/>
          <p:nvPr/>
        </p:nvSpPr>
        <p:spPr>
          <a:xfrm>
            <a:off x="5728716" y="3694176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42" name="Shape 40"/>
          <p:cNvSpPr/>
          <p:nvPr/>
        </p:nvSpPr>
        <p:spPr>
          <a:xfrm>
            <a:off x="5911596" y="3694176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43" name="Shape 41"/>
          <p:cNvSpPr/>
          <p:nvPr/>
        </p:nvSpPr>
        <p:spPr>
          <a:xfrm>
            <a:off x="5728716" y="3941064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44" name="Shape 42"/>
          <p:cNvSpPr/>
          <p:nvPr/>
        </p:nvSpPr>
        <p:spPr>
          <a:xfrm>
            <a:off x="5911596" y="3941064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45" name="Shape 43"/>
          <p:cNvSpPr/>
          <p:nvPr/>
        </p:nvSpPr>
        <p:spPr>
          <a:xfrm>
            <a:off x="7086600" y="1874520"/>
            <a:ext cx="457200" cy="2286000"/>
          </a:xfrm>
          <a:prstGeom prst="roundRect">
            <a:avLst>
              <a:gd name="adj" fmla="val 24000"/>
            </a:avLst>
          </a:prstGeom>
          <a:solidFill>
            <a:srgbClr val="D6D9EE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583680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4B"/>
                </a:solidFill>
              </a:rPr>
              <a:t>GND (−)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191756" y="1965960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48" name="Shape 46"/>
          <p:cNvSpPr/>
          <p:nvPr/>
        </p:nvSpPr>
        <p:spPr>
          <a:xfrm>
            <a:off x="7374636" y="1965960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49" name="Shape 47"/>
          <p:cNvSpPr/>
          <p:nvPr/>
        </p:nvSpPr>
        <p:spPr>
          <a:xfrm>
            <a:off x="7191756" y="2212848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50" name="Shape 48"/>
          <p:cNvSpPr/>
          <p:nvPr/>
        </p:nvSpPr>
        <p:spPr>
          <a:xfrm>
            <a:off x="7374636" y="2212848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51" name="Shape 49"/>
          <p:cNvSpPr/>
          <p:nvPr/>
        </p:nvSpPr>
        <p:spPr>
          <a:xfrm>
            <a:off x="7191756" y="2459736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52" name="Shape 50"/>
          <p:cNvSpPr/>
          <p:nvPr/>
        </p:nvSpPr>
        <p:spPr>
          <a:xfrm>
            <a:off x="7374636" y="2459736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53" name="Shape 51"/>
          <p:cNvSpPr/>
          <p:nvPr/>
        </p:nvSpPr>
        <p:spPr>
          <a:xfrm>
            <a:off x="7191756" y="2706624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54" name="Shape 52"/>
          <p:cNvSpPr/>
          <p:nvPr/>
        </p:nvSpPr>
        <p:spPr>
          <a:xfrm>
            <a:off x="7374636" y="2706624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55" name="Shape 53"/>
          <p:cNvSpPr/>
          <p:nvPr/>
        </p:nvSpPr>
        <p:spPr>
          <a:xfrm>
            <a:off x="7191756" y="2953512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56" name="Shape 54"/>
          <p:cNvSpPr/>
          <p:nvPr/>
        </p:nvSpPr>
        <p:spPr>
          <a:xfrm>
            <a:off x="7374636" y="2953512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57" name="Shape 55"/>
          <p:cNvSpPr/>
          <p:nvPr/>
        </p:nvSpPr>
        <p:spPr>
          <a:xfrm>
            <a:off x="7191756" y="3200400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58" name="Shape 56"/>
          <p:cNvSpPr/>
          <p:nvPr/>
        </p:nvSpPr>
        <p:spPr>
          <a:xfrm>
            <a:off x="7374636" y="3200400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59" name="Shape 57"/>
          <p:cNvSpPr/>
          <p:nvPr/>
        </p:nvSpPr>
        <p:spPr>
          <a:xfrm>
            <a:off x="7191756" y="3447288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60" name="Shape 58"/>
          <p:cNvSpPr/>
          <p:nvPr/>
        </p:nvSpPr>
        <p:spPr>
          <a:xfrm>
            <a:off x="7374636" y="3447288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61" name="Shape 59"/>
          <p:cNvSpPr/>
          <p:nvPr/>
        </p:nvSpPr>
        <p:spPr>
          <a:xfrm>
            <a:off x="7191756" y="3694176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62" name="Shape 60"/>
          <p:cNvSpPr/>
          <p:nvPr/>
        </p:nvSpPr>
        <p:spPr>
          <a:xfrm>
            <a:off x="7374636" y="3694176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63" name="Shape 61"/>
          <p:cNvSpPr/>
          <p:nvPr/>
        </p:nvSpPr>
        <p:spPr>
          <a:xfrm>
            <a:off x="7191756" y="3941064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64" name="Shape 62"/>
          <p:cNvSpPr/>
          <p:nvPr/>
        </p:nvSpPr>
        <p:spPr>
          <a:xfrm>
            <a:off x="7374636" y="3941064"/>
            <a:ext cx="64008" cy="64008"/>
          </a:xfrm>
          <a:prstGeom prst="ellipse">
            <a:avLst/>
          </a:prstGeom>
          <a:solidFill>
            <a:srgbClr val="8A8FA8"/>
          </a:solidFill>
          <a:ln/>
        </p:spPr>
      </p:sp>
      <p:sp>
        <p:nvSpPr>
          <p:cNvPr id="65" name="Shape 63"/>
          <p:cNvSpPr/>
          <p:nvPr/>
        </p:nvSpPr>
        <p:spPr>
          <a:xfrm>
            <a:off x="4617720" y="3063240"/>
            <a:ext cx="137160" cy="0"/>
          </a:xfrm>
          <a:prstGeom prst="line">
            <a:avLst/>
          </a:prstGeom>
          <a:noFill/>
          <a:ln w="50800">
            <a:solidFill>
              <a:srgbClr val="8A8FA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94960" y="3063240"/>
            <a:ext cx="228600" cy="0"/>
          </a:xfrm>
          <a:prstGeom prst="line">
            <a:avLst/>
          </a:prstGeom>
          <a:noFill/>
          <a:ln w="50800">
            <a:solidFill>
              <a:srgbClr val="8A8FA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54880" y="2743200"/>
            <a:ext cx="640080" cy="640080"/>
          </a:xfrm>
          <a:prstGeom prst="ellipse">
            <a:avLst/>
          </a:prstGeom>
          <a:solidFill>
            <a:srgbClr val="D8A657"/>
          </a:solidFill>
          <a:ln w="25400">
            <a:solidFill>
              <a:srgbClr val="1B1F4B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7548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4B"/>
                </a:solidFill>
              </a:rPr>
              <a:t>LDR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4526280" y="3429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090"/>
                </a:solidFill>
              </a:rPr>
              <a:t>Leg 1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5120640" y="3429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090"/>
                </a:solidFill>
              </a:rPr>
              <a:t>Leg 2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080760" y="3063240"/>
            <a:ext cx="182880" cy="0"/>
          </a:xfrm>
          <a:prstGeom prst="line">
            <a:avLst/>
          </a:prstGeom>
          <a:noFill/>
          <a:ln w="50800">
            <a:solidFill>
              <a:srgbClr val="8A8FA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812280" y="3063240"/>
            <a:ext cx="274320" cy="0"/>
          </a:xfrm>
          <a:prstGeom prst="line">
            <a:avLst/>
          </a:prstGeom>
          <a:noFill/>
          <a:ln w="50800">
            <a:solidFill>
              <a:srgbClr val="8A8FA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63640" y="2926080"/>
            <a:ext cx="548640" cy="274320"/>
          </a:xfrm>
          <a:prstGeom prst="roundRect">
            <a:avLst>
              <a:gd name="adj" fmla="val 40000"/>
            </a:avLst>
          </a:prstGeom>
          <a:solidFill>
            <a:srgbClr val="E8C9A0"/>
          </a:solidFill>
          <a:ln w="12700">
            <a:solidFill>
              <a:srgbClr val="1B1F4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336792" y="2926080"/>
            <a:ext cx="45720" cy="27432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75" name="Shape 73"/>
          <p:cNvSpPr/>
          <p:nvPr/>
        </p:nvSpPr>
        <p:spPr>
          <a:xfrm>
            <a:off x="6446520" y="2926080"/>
            <a:ext cx="4572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6" name="Shape 74"/>
          <p:cNvSpPr/>
          <p:nvPr/>
        </p:nvSpPr>
        <p:spPr>
          <a:xfrm>
            <a:off x="6556248" y="2926080"/>
            <a:ext cx="45720" cy="2743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6126480" y="3291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4B"/>
                </a:solidFill>
              </a:rPr>
              <a:t>10 kΩ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31520" y="4480560"/>
            <a:ext cx="7223760" cy="1645920"/>
          </a:xfrm>
          <a:prstGeom prst="rect">
            <a:avLst/>
          </a:prstGeom>
          <a:solidFill>
            <a:srgbClr val="0B6FA4"/>
          </a:solidFill>
          <a:ln/>
        </p:spPr>
      </p:sp>
      <p:sp>
        <p:nvSpPr>
          <p:cNvPr id="79" name="Shape 77"/>
          <p:cNvSpPr/>
          <p:nvPr/>
        </p:nvSpPr>
        <p:spPr>
          <a:xfrm>
            <a:off x="1554480" y="4480560"/>
            <a:ext cx="6035040" cy="182880"/>
          </a:xfrm>
          <a:prstGeom prst="rect">
            <a:avLst/>
          </a:prstGeom>
          <a:solidFill>
            <a:srgbClr val="1B1F4B"/>
          </a:solidFill>
          <a:ln/>
        </p:spPr>
      </p:sp>
      <p:sp>
        <p:nvSpPr>
          <p:cNvPr id="80" name="Shape 78"/>
          <p:cNvSpPr/>
          <p:nvPr/>
        </p:nvSpPr>
        <p:spPr>
          <a:xfrm>
            <a:off x="1764792" y="4507992"/>
            <a:ext cx="128016" cy="128016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146304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GND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2221992" y="4507992"/>
            <a:ext cx="128016" cy="128016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192024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13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4325112" y="4507992"/>
            <a:ext cx="128016" cy="128016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402336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5V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5788152" y="4507992"/>
            <a:ext cx="128016" cy="128016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548640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A0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7251192" y="4507992"/>
            <a:ext cx="128016" cy="128016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694944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GND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731520" y="51206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ARDUINO UNO</a:t>
            </a:r>
            <a:endParaRPr lang="en-US" sz="2200" dirty="0"/>
          </a:p>
        </p:txBody>
      </p:sp>
      <p:sp>
        <p:nvSpPr>
          <p:cNvPr id="91" name="Text 89"/>
          <p:cNvSpPr txBox="1"/>
          <p:nvPr/>
        </p:nvSpPr>
        <p:spPr>
          <a:xfrm>
            <a:off x="731520" y="56692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7FF"/>
                </a:solidFill>
              </a:rPr>
              <a:t>(simplified drawing: read the pin labels on your board)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4389120" y="4160520"/>
            <a:ext cx="0" cy="320040"/>
          </a:xfrm>
          <a:prstGeom prst="line">
            <a:avLst/>
          </a:prstGeom>
          <a:noFill/>
          <a:ln w="63500">
            <a:solidFill>
              <a:srgbClr val="E8436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852160" y="4160520"/>
            <a:ext cx="0" cy="320040"/>
          </a:xfrm>
          <a:prstGeom prst="line">
            <a:avLst/>
          </a:prstGeom>
          <a:noFill/>
          <a:ln w="63500">
            <a:solidFill>
              <a:srgbClr val="FFC4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315200" y="4160520"/>
            <a:ext cx="0" cy="320040"/>
          </a:xfrm>
          <a:prstGeom prst="line">
            <a:avLst/>
          </a:prstGeom>
          <a:noFill/>
          <a:ln w="63500">
            <a:solidFill>
              <a:srgbClr val="11111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828800" y="3749040"/>
            <a:ext cx="0" cy="731520"/>
          </a:xfrm>
          <a:prstGeom prst="line">
            <a:avLst/>
          </a:prstGeom>
          <a:noFill/>
          <a:ln w="50800">
            <a:solidFill>
              <a:srgbClr val="8A8FA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286000" y="3749040"/>
            <a:ext cx="0" cy="731520"/>
          </a:xfrm>
          <a:prstGeom prst="line">
            <a:avLst/>
          </a:prstGeom>
          <a:noFill/>
          <a:ln w="50800">
            <a:solidFill>
              <a:srgbClr val="8A8FA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645920" y="2926080"/>
            <a:ext cx="822960" cy="822960"/>
          </a:xfrm>
          <a:prstGeom prst="ellipse">
            <a:avLst/>
          </a:prstGeom>
          <a:solidFill>
            <a:srgbClr val="3DDC84"/>
          </a:solidFill>
          <a:ln w="25400">
            <a:solidFill>
              <a:srgbClr val="2BB673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164592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4B"/>
                </a:solidFill>
              </a:rPr>
              <a:t>LED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548640" y="3931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90"/>
                </a:solidFill>
              </a:rPr>
              <a:t>short leg (−)</a:t>
            </a:r>
            <a:endParaRPr lang="en-US" sz="1100" dirty="0"/>
          </a:p>
        </p:txBody>
      </p:sp>
      <p:sp>
        <p:nvSpPr>
          <p:cNvPr id="100" name="Text 98"/>
          <p:cNvSpPr txBox="1"/>
          <p:nvPr/>
        </p:nvSpPr>
        <p:spPr>
          <a:xfrm>
            <a:off x="2377440" y="3931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090"/>
                </a:solidFill>
              </a:rPr>
              <a:t>long leg (+)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8732520" y="1280160"/>
            <a:ext cx="299923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8887968" y="1645920"/>
            <a:ext cx="365760" cy="365760"/>
          </a:xfrm>
          <a:prstGeom prst="ellipse">
            <a:avLst/>
          </a:prstGeom>
          <a:solidFill>
            <a:srgbClr val="E8436E"/>
          </a:solidFill>
          <a:ln w="12700">
            <a:solidFill>
              <a:srgbClr val="E8436E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9372600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4B"/>
                </a:solidFill>
              </a:rPr>
              <a:t>Red wire</a:t>
            </a:r>
            <a:endParaRPr lang="en-US" sz="1500" dirty="0"/>
          </a:p>
        </p:txBody>
      </p:sp>
      <p:sp>
        <p:nvSpPr>
          <p:cNvPr id="104" name="Text 102"/>
          <p:cNvSpPr txBox="1"/>
          <p:nvPr/>
        </p:nvSpPr>
        <p:spPr>
          <a:xfrm>
            <a:off x="9372600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090"/>
                </a:solidFill>
              </a:rPr>
              <a:t>5V (+) to the strip with LDR Leg 1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8732520" y="2468880"/>
            <a:ext cx="299923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8887968" y="2834640"/>
            <a:ext cx="365760" cy="36576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9372600" y="2578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4B"/>
                </a:solidFill>
              </a:rPr>
              <a:t>Yellow wire</a:t>
            </a:r>
            <a:endParaRPr lang="en-US" sz="1500" dirty="0"/>
          </a:p>
        </p:txBody>
      </p:sp>
      <p:sp>
        <p:nvSpPr>
          <p:cNvPr id="108" name="Text 106"/>
          <p:cNvSpPr txBox="1"/>
          <p:nvPr/>
        </p:nvSpPr>
        <p:spPr>
          <a:xfrm>
            <a:off x="9372600" y="2926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090"/>
                </a:solidFill>
              </a:rPr>
              <a:t>A0 to the strip where LDR Leg 2 and the resistor meet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8732520" y="3657600"/>
            <a:ext cx="299923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8887968" y="402336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9372600" y="3767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4B"/>
                </a:solidFill>
              </a:rPr>
              <a:t>Black wire</a:t>
            </a:r>
            <a:endParaRPr lang="en-US" sz="1500" dirty="0"/>
          </a:p>
        </p:txBody>
      </p:sp>
      <p:sp>
        <p:nvSpPr>
          <p:cNvPr id="112" name="Text 110"/>
          <p:cNvSpPr txBox="1"/>
          <p:nvPr/>
        </p:nvSpPr>
        <p:spPr>
          <a:xfrm>
            <a:off x="9372600" y="4114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090"/>
                </a:solidFill>
              </a:rPr>
              <a:t>GND (−) to the strip with the resistor free leg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8732520" y="4846320"/>
            <a:ext cx="299923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4" name="Shape 112"/>
          <p:cNvSpPr/>
          <p:nvPr/>
        </p:nvSpPr>
        <p:spPr>
          <a:xfrm>
            <a:off x="8887968" y="5212080"/>
            <a:ext cx="365760" cy="365760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9372600" y="4956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4B"/>
                </a:solidFill>
              </a:rPr>
              <a:t>LED</a:t>
            </a:r>
            <a:endParaRPr lang="en-US" sz="1500" dirty="0"/>
          </a:p>
        </p:txBody>
      </p:sp>
      <p:sp>
        <p:nvSpPr>
          <p:cNvPr id="116" name="Text 114"/>
          <p:cNvSpPr txBox="1"/>
          <p:nvPr/>
        </p:nvSpPr>
        <p:spPr>
          <a:xfrm>
            <a:off x="9372600" y="5303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090"/>
                </a:solidFill>
              </a:rPr>
              <a:t>Long leg to pin 13, short leg to GND</a:t>
            </a:r>
            <a:endParaRPr lang="en-US" sz="1200" dirty="0"/>
          </a:p>
        </p:txBody>
      </p:sp>
      <p:sp>
        <p:nvSpPr>
          <p:cNvPr id="1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0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F4B"/>
                </a:solidFill>
              </a:rPr>
              <a:t>Step-by-Step Wiring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532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E8436E"/>
          </a:solidFill>
          <a:ln w="12700">
            <a:solidFill>
              <a:srgbClr val="E843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435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1F4B"/>
                </a:solidFill>
              </a:rPr>
              <a:t>Power off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Unplug the USB cable before wiring.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87752"/>
            <a:ext cx="5532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862072"/>
            <a:ext cx="548640" cy="548640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862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4B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697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1F4B"/>
                </a:solidFill>
              </a:rPr>
              <a:t>Place the LDR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04495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Put its 2 legs in two different breadboard strips (no polarity).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49624"/>
            <a:ext cx="5532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4123944"/>
            <a:ext cx="548640" cy="54864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123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4B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9593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1F4B"/>
                </a:solidFill>
              </a:rPr>
              <a:t>Place the 10 kΩ resistor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30682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One leg shares the strip with LDR Leg 2, the other leg goes in a new strip.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111496"/>
            <a:ext cx="5532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5385816"/>
            <a:ext cx="548640" cy="548640"/>
          </a:xfrm>
          <a:prstGeom prst="ellipse">
            <a:avLst/>
          </a:prstGeom>
          <a:solidFill>
            <a:srgbClr val="7B4DFF"/>
          </a:solidFill>
          <a:ln w="12700">
            <a:solidFill>
              <a:srgbClr val="7B4D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385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2212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1F4B"/>
                </a:solidFill>
              </a:rPr>
              <a:t>Red wire: 5V (+)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568696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Arduino 5V to the strip of LDR Leg 1.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99632" y="1325880"/>
            <a:ext cx="5532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28232" y="1600200"/>
            <a:ext cx="548640" cy="54864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28232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205472" y="1435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1F4B"/>
                </a:solidFill>
              </a:rPr>
              <a:t>Yellow wire: A0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205472" y="17830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Arduino A0 to the strip where LDR Leg 2 and the resistor meet.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99632" y="2587752"/>
            <a:ext cx="5532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28232" y="2862072"/>
            <a:ext cx="548640" cy="548640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28232" y="2862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205472" y="2697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1F4B"/>
                </a:solidFill>
              </a:rPr>
              <a:t>Black wire: GND (−)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205472" y="304495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Arduino GND to the strip of the resistor free leg.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99632" y="3849624"/>
            <a:ext cx="5532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28232" y="4123944"/>
            <a:ext cx="548640" cy="548640"/>
          </a:xfrm>
          <a:prstGeom prst="ellipse">
            <a:avLst/>
          </a:prstGeom>
          <a:solidFill>
            <a:srgbClr val="E8436E"/>
          </a:solidFill>
          <a:ln w="12700">
            <a:solidFill>
              <a:srgbClr val="E8436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28232" y="4123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7205472" y="39593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1F4B"/>
                </a:solidFill>
              </a:rPr>
              <a:t>Add the LED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7205472" y="430682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Long leg to pin 13, short leg to the GND pin next to it.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99632" y="5111496"/>
            <a:ext cx="5532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28232" y="5385816"/>
            <a:ext cx="548640" cy="548640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28232" y="5385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4B"/>
                </a:solidFill>
              </a:rPr>
              <a:t>8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7205472" y="52212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1F4B"/>
                </a:solidFill>
              </a:rPr>
              <a:t>Upload and test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7205472" y="5568696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Plug in USB, upload the code, open Serial Monitor at 9600.</a:t>
            </a:r>
            <a:endParaRPr 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0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F4B"/>
                </a:solidFill>
              </a:rPr>
              <a:t>The Code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035040" cy="5257800"/>
          </a:xfrm>
          <a:prstGeom prst="roundRect">
            <a:avLst>
              <a:gd name="adj" fmla="val 2087"/>
            </a:avLst>
          </a:prstGeom>
          <a:solidFill>
            <a:srgbClr val="14183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5577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F8C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8C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MADE BY SIR ANWAR SIRAJ, DS &amp; AI ROBOTICS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ldrPin = </a:t>
            </a:r>
            <a:r>
              <a:rPr lang="en-US" sz="12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led = </a:t>
            </a:r>
            <a:r>
              <a:rPr lang="en-US" sz="1200" dirty="0">
                <a:solidFill>
                  <a:srgbClr val="BD93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threshold = </a:t>
            </a:r>
            <a:r>
              <a:rPr lang="en-US" sz="1200" dirty="0">
                <a:solidFill>
                  <a:srgbClr val="BD93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setup()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Serial.begin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BD93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9600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pinMode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(led, </a:t>
            </a:r>
            <a:r>
              <a:rPr lang="en-US" sz="12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loop()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 = </a:t>
            </a:r>
            <a:r>
              <a:rPr lang="en-US" sz="12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analogRead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(ldrPin);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Serial.println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Serial.print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"Light Sensor "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Serial.print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"Value = "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Serial.print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 &lt;= threshold)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digitalWrite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(led, </a:t>
            </a:r>
            <a:r>
              <a:rPr lang="en-US" sz="12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digitalWrite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(led, </a:t>
            </a:r>
            <a:r>
              <a:rPr lang="en-US" sz="12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0" y="1188720"/>
            <a:ext cx="4937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95160" y="1417320"/>
            <a:ext cx="457200" cy="457200"/>
          </a:xfrm>
          <a:prstGeom prst="ellipse">
            <a:avLst/>
          </a:prstGeom>
          <a:solidFill>
            <a:srgbClr val="E8436E"/>
          </a:solidFill>
          <a:ln w="12700">
            <a:solidFill>
              <a:srgbClr val="E843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951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1F4B"/>
                </a:solidFill>
              </a:rPr>
              <a:t>Variables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20116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090"/>
                </a:solidFill>
              </a:rPr>
              <a:t>ldrPin = A0, led = 13 and threshold = 70 are names and numbers we choose.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66560" y="2971800"/>
            <a:ext cx="4937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95160" y="3200400"/>
            <a:ext cx="457200" cy="45720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951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4B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3200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1F4B"/>
                </a:solidFill>
              </a:rPr>
              <a:t>setup() runs ONCE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379476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090"/>
                </a:solidFill>
              </a:rPr>
              <a:t>Starts the Serial Monitor and makes pin 13 an output for the LED.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766560" y="4754880"/>
            <a:ext cx="4937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95160" y="4983480"/>
            <a:ext cx="457200" cy="457200"/>
          </a:xfrm>
          <a:prstGeom prst="ellipse">
            <a:avLst/>
          </a:prstGeom>
          <a:solidFill>
            <a:srgbClr val="7B4DFF"/>
          </a:solidFill>
          <a:ln w="12700">
            <a:solidFill>
              <a:srgbClr val="7B4D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9516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4983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1F4B"/>
                </a:solidFill>
              </a:rPr>
              <a:t>loop() repeats FOREVER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5577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090"/>
                </a:solidFill>
              </a:rPr>
              <a:t>Read the LDR, print the value, compare with threshold, switch the LED.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0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F4B"/>
                </a:solidFill>
              </a:rPr>
              <a:t>Code Explained Line by Line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493776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Code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it means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2185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 ldrPin = A0;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4B"/>
                          </a:solidFill>
                        </a:rPr>
                        <a:t>The LDR signal wire is connected to analog pin A0.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2185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 led = 13;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4B"/>
                          </a:solidFill>
                        </a:rPr>
                        <a:t>The LED is connected to digital pin 13.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2185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 threshold = 70;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4B"/>
                          </a:solidFill>
                        </a:rPr>
                        <a:t>The dividing line between dark and bright (scale 0 to 1023).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2185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Serial.begin(9600);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4B"/>
                          </a:solidFill>
                        </a:rPr>
                        <a:t>Starts the Serial Monitor at speed 9600.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2185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pinMode(led, OUTPUT);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4B"/>
                          </a:solidFill>
                        </a:rPr>
                        <a:t>Pin 13 sends power OUT to the LED.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2185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analogRead(ldrPin)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4B"/>
                          </a:solidFill>
                        </a:rPr>
                        <a:t>Reads A0 and gives a number 0 to 1023, saved in data.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2185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Serial.print(...)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4B"/>
                          </a:solidFill>
                        </a:rPr>
                        <a:t>Shows "Light Sensor Value = number" on the screen.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2185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if(data &lt;= threshold)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4B"/>
                          </a:solidFill>
                        </a:rPr>
                        <a:t>Dark? LED ON (HIGH). Otherwise else: LED OFF (LOW).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0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F4B"/>
                </a:solidFill>
              </a:rPr>
              <a:t>What is Threshold? Why Do We Need It?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FB000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1F4B"/>
                </a:solidFill>
              </a:rPr>
              <a:t>IN SIMPLE WORDS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1F4B"/>
                </a:solidFill>
              </a:rPr>
              <a:t>Threshold = the decision line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1F4B"/>
                </a:solidFill>
              </a:rPr>
              <a:t>A limit number. On one side of it one thing happens, on the other side something else happens.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48463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438912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36E"/>
                </a:solidFill>
              </a:rPr>
              <a:t>Example: </a:t>
            </a:r>
            <a:r>
              <a:rPr lang="en-US" sz="1600" dirty="0">
                <a:solidFill>
                  <a:srgbClr val="1B1F4B"/>
                </a:solidFill>
              </a:rPr>
              <a:t>If marks are 40 or more you PASS, otherwise FAIL. Here 40 is the threshold. In our project: reading 70 or less = DARK, LED ON.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3716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1F4B"/>
                </a:solidFill>
              </a:rPr>
              <a:t>Why is threshold needed?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55778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2176272"/>
            <a:ext cx="457200" cy="457200"/>
          </a:xfrm>
          <a:prstGeom prst="ellipse">
            <a:avLst/>
          </a:prstGeom>
          <a:solidFill>
            <a:srgbClr val="E8436E"/>
          </a:solidFill>
          <a:ln w="12700">
            <a:solidFill>
              <a:srgbClr val="E843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192024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4B"/>
                </a:solidFill>
              </a:rPr>
              <a:t>Arduino reads only numbers (0 to 1023). It does not know the words dark or bright.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26480" y="3017520"/>
            <a:ext cx="55778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3273552"/>
            <a:ext cx="457200" cy="457200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4B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0175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4B"/>
                </a:solidFill>
              </a:rPr>
              <a:t>Threshold tells Arduino which number means dark.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26480" y="4114800"/>
            <a:ext cx="55778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4370832"/>
            <a:ext cx="457200" cy="45720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4B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411480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4B"/>
                </a:solidFill>
              </a:rPr>
              <a:t>Without it, the LED cannot decide when to turn ON or OFF.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26480" y="5212080"/>
            <a:ext cx="55778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5468112"/>
            <a:ext cx="457200" cy="457200"/>
          </a:xfrm>
          <a:prstGeom prst="ellipse">
            <a:avLst/>
          </a:prstGeom>
          <a:solidFill>
            <a:srgbClr val="7B4DFF"/>
          </a:solidFill>
          <a:ln w="12700">
            <a:solidFill>
              <a:srgbClr val="7B4D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5468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52120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4B"/>
                </a:solidFill>
              </a:rPr>
              <a:t>We chose 70 by testing in our room. Light differs, so you can change it.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0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F4B"/>
                </a:solidFill>
              </a:rPr>
              <a:t>What Do 70 and 1023 Mean?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E8436E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means 0 V (no voltage)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74820" y="1371600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FFB000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457700" y="14630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1F4B"/>
                </a:solidFill>
              </a:rPr>
              <a:t>1023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457700" y="21945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F4B"/>
                </a:solidFill>
              </a:rPr>
              <a:t>means 5 V (full voltage)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92440" y="1371600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7B4D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75320" y="14630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No unit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945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It is only a count: 1024 steps, about 0.0049 V each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11247120" cy="25146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Reading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Voltage at A0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B1F4B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4B"/>
                          </a:solidFill>
                        </a:rPr>
                        <a:t>0 V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4B"/>
                          </a:solidFill>
                        </a:rPr>
                        <a:t>Darkest possible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B1F4B"/>
                          </a:solidFill>
                        </a:rPr>
                        <a:t>70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B1F4B"/>
                          </a:solidFill>
                        </a:rPr>
                        <a:t>0.34 V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B1F4B"/>
                          </a:solidFill>
                        </a:rPr>
                        <a:t>DARK: our threshold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B1F4B"/>
                          </a:solidFill>
                        </a:rPr>
                        <a:t>512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4B"/>
                          </a:solidFill>
                        </a:rPr>
                        <a:t>2.5 V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4B"/>
                          </a:solidFill>
                        </a:rPr>
                        <a:t>Medium light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B1F4B"/>
                          </a:solidFill>
                        </a:rPr>
                        <a:t>1023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4B"/>
                          </a:solidFill>
                        </a:rPr>
                        <a:t>5 V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1F4B"/>
                          </a:solidFill>
                        </a:rPr>
                        <a:t>Brightest possible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436E"/>
                </a:solidFill>
              </a:rPr>
              <a:t>Formula:  </a:t>
            </a:r>
            <a:r>
              <a:rPr lang="en-US" sz="1800" dirty="0">
                <a:solidFill>
                  <a:srgbClr val="1B1F4B"/>
                </a:solidFill>
              </a:rPr>
              <a:t>Voltage = reading × 5 ÷ 1023      (70 × 5 ÷ 1023 = about 0.34 V)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0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F4B"/>
                </a:solidFill>
              </a:rPr>
              <a:t>How to Choose the Threshold (4 Steps)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E8436E"/>
          </a:solidFill>
          <a:ln w="12700">
            <a:solidFill>
              <a:srgbClr val="E843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</a:rPr>
              <a:t>Open Serial Monitor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632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090"/>
                </a:solidFill>
              </a:rPr>
              <a:t>Connect USB, upload the code, set speed to 9600.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10128" y="137160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38728" y="1554480"/>
            <a:ext cx="640080" cy="640080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8728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1F4B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2377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</a:rPr>
              <a:t>Find the DARK number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30632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090"/>
                </a:solidFill>
              </a:rPr>
              <a:t>Cover the LDR with your finger. Note the number (example: 40).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63056" y="137160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91656" y="1554480"/>
            <a:ext cx="640080" cy="64008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91656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1F4B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391656" y="2377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</a:rPr>
              <a:t>Find the BRIGHT number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91656" y="30632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090"/>
                </a:solidFill>
              </a:rPr>
              <a:t>Shine a torch or room light. Note the number (example: 600).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15984" y="137160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44584" y="1554480"/>
            <a:ext cx="640080" cy="640080"/>
          </a:xfrm>
          <a:prstGeom prst="ellipse">
            <a:avLst/>
          </a:prstGeom>
          <a:solidFill>
            <a:srgbClr val="7B4DFF"/>
          </a:solidFill>
          <a:ln w="12700">
            <a:solidFill>
              <a:srgbClr val="7B4D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44584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244584" y="2377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</a:rPr>
              <a:t>Pick a number in between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44584" y="30632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090"/>
                </a:solidFill>
              </a:rPr>
              <a:t>Choose near the dark value (example: 70). Write it in int threshold = 70; and upload.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4800600"/>
            <a:ext cx="11247120" cy="1463040"/>
          </a:xfrm>
          <a:prstGeom prst="roundRect">
            <a:avLst>
              <a:gd name="adj" fmla="val 7500"/>
            </a:avLst>
          </a:prstGeom>
          <a:solidFill>
            <a:srgbClr val="00B8A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31520" y="4892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</a:rPr>
              <a:t>Example numbers only: your readings will be different in your room.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440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</a:rPr>
              <a:t>LED turns ON too late? </a:t>
            </a:r>
            <a:r>
              <a:rPr lang="en-US" sz="1800" dirty="0">
                <a:solidFill>
                  <a:srgbClr val="1B1F4B"/>
                </a:solidFill>
              </a:rPr>
              <a:t>Raise the threshold.     </a:t>
            </a:r>
            <a:r>
              <a:rPr lang="en-US" sz="1800" b="1" dirty="0">
                <a:solidFill>
                  <a:srgbClr val="1B1F4B"/>
                </a:solidFill>
              </a:rPr>
              <a:t>LED ON even in daylight? </a:t>
            </a:r>
            <a:r>
              <a:rPr lang="en-US" sz="1800" dirty="0">
                <a:solidFill>
                  <a:srgbClr val="1B1F4B"/>
                </a:solidFill>
              </a:rPr>
              <a:t>Lower the threshold.</a:t>
            </a:r>
            <a:endParaRPr lang="en-US" sz="1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0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1F4B"/>
                </a:solidFill>
              </a:rPr>
              <a:t>Threshold: Dark or Bright?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7B4D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 to 70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DARK = LED 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749040" y="1371600"/>
            <a:ext cx="7955280" cy="1005840"/>
          </a:xfrm>
          <a:prstGeom prst="roundRect">
            <a:avLst>
              <a:gd name="adj" fmla="val 10909"/>
            </a:avLst>
          </a:prstGeom>
          <a:solidFill>
            <a:srgbClr val="FFB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749040" y="137160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4B"/>
                </a:solidFill>
              </a:rPr>
              <a:t>71 to 1023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1F4B"/>
                </a:solidFill>
              </a:rPr>
              <a:t>BRIGHT = LED OFF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11880" y="2423160"/>
            <a:ext cx="274320" cy="274320"/>
          </a:xfrm>
          <a:prstGeom prst="triangle">
            <a:avLst/>
          </a:prstGeom>
          <a:solidFill>
            <a:srgbClr val="E8436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0" y="2715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436E"/>
                </a:solidFill>
              </a:rPr>
              <a:t>threshold = 70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87552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090"/>
                </a:solidFill>
              </a:rPr>
              <a:t>(bar not to scale)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3429000"/>
            <a:ext cx="457200" cy="457200"/>
          </a:xfrm>
          <a:prstGeom prst="ellipse">
            <a:avLst/>
          </a:prstGeom>
          <a:solidFill>
            <a:srgbClr val="E8436E"/>
          </a:solidFill>
          <a:ln w="12700">
            <a:solidFill>
              <a:srgbClr val="E843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74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1F4B"/>
                </a:solidFill>
              </a:rPr>
              <a:t>What is it?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02336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A number we choose from 0 to 1023. If the reading is 70 or less, the room is "dark enough" and the LED turns 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74820" y="324612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03420" y="3429000"/>
            <a:ext cx="457200" cy="45720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034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4B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143500" y="3474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1F4B"/>
                </a:solidFill>
              </a:rPr>
              <a:t>Tune it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503420" y="402336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Raise it to 200: the LED turns on in dim light. Lower it to 30: the room must be very dark. Watch the Serial Monitor and pick your value.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92440" y="324612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21040" y="3429000"/>
            <a:ext cx="457200" cy="45720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0" y="3474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1F4B"/>
                </a:solidFill>
              </a:rPr>
              <a:t>Test it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402336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90"/>
                </a:solidFill>
              </a:rPr>
              <a:t>Cover the LDR with a finger: the number falls and the LED turns ON. Shine a torch: the number rises and the LED turns OFF.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5760720"/>
            <a:ext cx="112471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1E6F5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85800" y="57607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36E"/>
                </a:solidFill>
              </a:rPr>
              <a:t>Troubleshooting: </a:t>
            </a:r>
            <a:r>
              <a:rPr lang="en-US" sz="1400" dirty="0">
                <a:solidFill>
                  <a:srgbClr val="1B1F4B"/>
                </a:solidFill>
              </a:rPr>
              <a:t>LED never lights? Check LED direction and pin 13. Number stuck at 0 or 1023? Check the 10 kΩ resistor and the A0 wire.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0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We Learned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94360" cy="594360"/>
          </a:xfrm>
          <a:prstGeom prst="ellipse">
            <a:avLst/>
          </a:prstGeom>
          <a:solidFill>
            <a:srgbClr val="E8436E"/>
          </a:solidFill>
          <a:ln w="12700">
            <a:solidFill>
              <a:srgbClr val="E843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630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The LDR has 2 legs and no polarity: its resistance changes with light.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94360" cy="594360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4B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603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LDR + 10 kΩ resistor make a voltage divider; A0 reads the middle point.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94360" cy="59436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4B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analogRead gives 0 to 1023; threshold = 70 decides dark or bright.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594360" cy="594360"/>
          </a:xfrm>
          <a:prstGeom prst="ellipse">
            <a:avLst/>
          </a:prstGeom>
          <a:solidFill>
            <a:srgbClr val="7B4DFF"/>
          </a:solidFill>
          <a:ln w="12700">
            <a:solidFill>
              <a:srgbClr val="7B4D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846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7548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if / else turns the LED ON in the dark and OFF in the light.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0" y="1463040"/>
            <a:ext cx="3931920" cy="4206240"/>
          </a:xfrm>
          <a:prstGeom prst="roundRect">
            <a:avLst>
              <a:gd name="adj" fmla="val 2791"/>
            </a:avLst>
          </a:prstGeom>
          <a:solidFill>
            <a:srgbClr val="FFB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0" y="1645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1F4B"/>
                </a:solidFill>
              </a:rPr>
              <a:t>TRY IT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233172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F4B"/>
                </a:solidFill>
              </a:rPr>
              <a:t>Change the threshold to 200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F4B"/>
                </a:solidFill>
              </a:rPr>
              <a:t>Use a different LED pin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F4B"/>
                </a:solidFill>
              </a:rPr>
              <a:t>Make the LED blink in the dark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1F4B"/>
                </a:solidFill>
              </a:rPr>
              <a:t>Add delay(200) to slow the Serial Monitor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8A9"/>
                </a:solidFill>
              </a:rPr>
              <a:t>Made by Sir Anwar Siraj, DS &amp; AI Robotics, for Teachers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ght Sensor">
  <a:themeElements>
    <a:clrScheme name="Light Sensor">
      <a:dk1>
        <a:srgbClr val="1B1F4B"/>
      </a:dk1>
      <a:lt1>
        <a:srgbClr val="FFFFFF"/>
      </a:lt1>
      <a:dk2>
        <a:srgbClr val="2B2F77"/>
      </a:dk2>
      <a:lt2>
        <a:srgbClr val="F3F6FF"/>
      </a:lt2>
      <a:accent1>
        <a:srgbClr val="E8436E"/>
      </a:accent1>
      <a:accent2>
        <a:srgbClr val="FFB000"/>
      </a:accent2>
      <a:accent3>
        <a:srgbClr val="00B8A9"/>
      </a:accent3>
      <a:accent4>
        <a:srgbClr val="7B4DFF"/>
      </a:accent4>
      <a:accent5>
        <a:srgbClr val="1E90FF"/>
      </a:accent5>
      <a:accent6>
        <a:srgbClr val="2BB673"/>
      </a:accent6>
      <a:hlink>
        <a:srgbClr val="1E90FF"/>
      </a:hlink>
      <a:folHlink>
        <a:srgbClr val="7B4DFF"/>
      </a:folHlink>
    </a:clrScheme>
    <a:fontScheme name="Light Sens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1959</Words>
  <Application>Microsoft Office PowerPoint</Application>
  <PresentationFormat>Widescreen</PresentationFormat>
  <Paragraphs>359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Light Sensor</vt:lpstr>
      <vt:lpstr>PowerPoint Presentation</vt:lpstr>
      <vt:lpstr>What Does This Project Do?</vt:lpstr>
      <vt:lpstr>Components We Need</vt:lpstr>
      <vt:lpstr>LDR Full Form</vt:lpstr>
      <vt:lpstr>The LDR: Light Dependent Resistor</vt:lpstr>
      <vt:lpstr>Meet the Other Components</vt:lpstr>
      <vt:lpstr>How It Works: Voltage Divider</vt:lpstr>
      <vt:lpstr>Why Does the LED Turn ON in the Dark?</vt:lpstr>
      <vt:lpstr>Circuit Diagram (Schematic)</vt:lpstr>
      <vt:lpstr>Physical Circuit: Arduino + LDR + LED</vt:lpstr>
      <vt:lpstr>Step-by-Step Wiring</vt:lpstr>
      <vt:lpstr>The Code</vt:lpstr>
      <vt:lpstr>Code Explained Line by Line</vt:lpstr>
      <vt:lpstr>What is Threshold? Why Do We Need It?</vt:lpstr>
      <vt:lpstr>What Do 70 and 1023 Mean?</vt:lpstr>
      <vt:lpstr>How to Choose the Threshold (4 Steps)</vt:lpstr>
      <vt:lpstr>Threshold: Dark or Bright?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Light Sensor Workshop</dc:title>
  <dc:subject>PptxGenJS Presentation</dc:subject>
  <dc:creator>Sir Anwar Siraj, DS &amp; AI Robotics</dc:creator>
  <cp:lastModifiedBy>PC</cp:lastModifiedBy>
  <cp:revision>3</cp:revision>
  <dcterms:created xsi:type="dcterms:W3CDTF">2026-10-26T05:19:59Z</dcterms:created>
  <dcterms:modified xsi:type="dcterms:W3CDTF">2026-10-25T16:24:02Z</dcterms:modified>
</cp:coreProperties>
</file>